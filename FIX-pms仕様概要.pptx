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742113" cy="98726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278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2017/6/18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上矢印 43"/>
          <p:cNvSpPr/>
          <p:nvPr/>
        </p:nvSpPr>
        <p:spPr>
          <a:xfrm>
            <a:off x="5615329" y="1154439"/>
            <a:ext cx="216024" cy="4133631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上矢印 39"/>
          <p:cNvSpPr/>
          <p:nvPr/>
        </p:nvSpPr>
        <p:spPr>
          <a:xfrm>
            <a:off x="2411760" y="1154439"/>
            <a:ext cx="216024" cy="4057307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上矢印 11"/>
          <p:cNvSpPr/>
          <p:nvPr/>
        </p:nvSpPr>
        <p:spPr>
          <a:xfrm>
            <a:off x="4427197" y="1154439"/>
            <a:ext cx="216024" cy="2829493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縦巻き 3"/>
          <p:cNvSpPr/>
          <p:nvPr/>
        </p:nvSpPr>
        <p:spPr>
          <a:xfrm>
            <a:off x="1979712" y="332656"/>
            <a:ext cx="5098699" cy="792088"/>
          </a:xfrm>
          <a:prstGeom prst="verticalScroll">
            <a:avLst>
              <a:gd name="adj" fmla="val 1952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FIX-pms.xsd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上矢印 8"/>
          <p:cNvSpPr/>
          <p:nvPr/>
        </p:nvSpPr>
        <p:spPr>
          <a:xfrm>
            <a:off x="2771800" y="2368764"/>
            <a:ext cx="216024" cy="412164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上矢印 9"/>
          <p:cNvSpPr/>
          <p:nvPr/>
        </p:nvSpPr>
        <p:spPr>
          <a:xfrm>
            <a:off x="3131840" y="1131992"/>
            <a:ext cx="216024" cy="424800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上矢印 10"/>
          <p:cNvSpPr/>
          <p:nvPr/>
        </p:nvSpPr>
        <p:spPr>
          <a:xfrm flipH="1">
            <a:off x="4944629" y="1154439"/>
            <a:ext cx="216024" cy="391330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上矢印 12"/>
          <p:cNvSpPr/>
          <p:nvPr/>
        </p:nvSpPr>
        <p:spPr>
          <a:xfrm>
            <a:off x="1410899" y="2368764"/>
            <a:ext cx="216024" cy="1583035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上矢印 13"/>
          <p:cNvSpPr/>
          <p:nvPr/>
        </p:nvSpPr>
        <p:spPr>
          <a:xfrm>
            <a:off x="3995936" y="1154439"/>
            <a:ext cx="216024" cy="1626489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上矢印 14"/>
          <p:cNvSpPr/>
          <p:nvPr/>
        </p:nvSpPr>
        <p:spPr>
          <a:xfrm>
            <a:off x="3995936" y="3587889"/>
            <a:ext cx="216024" cy="396044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縦巻き 18"/>
          <p:cNvSpPr/>
          <p:nvPr/>
        </p:nvSpPr>
        <p:spPr>
          <a:xfrm>
            <a:off x="251520" y="3987320"/>
            <a:ext cx="1764196" cy="689004"/>
          </a:xfrm>
          <a:prstGeom prst="verticalScroll">
            <a:avLst>
              <a:gd name="adj" fmla="val 1952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gpx.xsd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上矢印 19"/>
          <p:cNvSpPr/>
          <p:nvPr/>
        </p:nvSpPr>
        <p:spPr>
          <a:xfrm>
            <a:off x="1025606" y="4676324"/>
            <a:ext cx="216024" cy="32172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縦巻き 20"/>
          <p:cNvSpPr/>
          <p:nvPr/>
        </p:nvSpPr>
        <p:spPr>
          <a:xfrm>
            <a:off x="251520" y="5010747"/>
            <a:ext cx="1764196" cy="614380"/>
          </a:xfrm>
          <a:prstGeom prst="verticalScroll">
            <a:avLst>
              <a:gd name="adj" fmla="val 2341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PFUPoint.xsd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2" name="曲折矢印 21"/>
          <p:cNvSpPr/>
          <p:nvPr/>
        </p:nvSpPr>
        <p:spPr>
          <a:xfrm>
            <a:off x="755576" y="642885"/>
            <a:ext cx="1368152" cy="3308914"/>
          </a:xfrm>
          <a:prstGeom prst="bentArrow">
            <a:avLst>
              <a:gd name="adj1" fmla="val 7757"/>
              <a:gd name="adj2" fmla="val 8288"/>
              <a:gd name="adj3" fmla="val 12235"/>
              <a:gd name="adj4" fmla="val 25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縦巻き 22"/>
          <p:cNvSpPr/>
          <p:nvPr/>
        </p:nvSpPr>
        <p:spPr>
          <a:xfrm>
            <a:off x="7380312" y="3987320"/>
            <a:ext cx="1415165" cy="689005"/>
          </a:xfrm>
          <a:prstGeom prst="verticalScroll">
            <a:avLst>
              <a:gd name="adj" fmla="val 1952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Gml.xsd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縦巻き 23"/>
          <p:cNvSpPr/>
          <p:nvPr/>
        </p:nvSpPr>
        <p:spPr>
          <a:xfrm>
            <a:off x="7380311" y="5036275"/>
            <a:ext cx="1415165" cy="588852"/>
          </a:xfrm>
          <a:prstGeom prst="verticalScroll">
            <a:avLst>
              <a:gd name="adj" fmla="val 2341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Xlinks.xsd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上矢印 24"/>
          <p:cNvSpPr/>
          <p:nvPr/>
        </p:nvSpPr>
        <p:spPr>
          <a:xfrm>
            <a:off x="7979882" y="4689023"/>
            <a:ext cx="216024" cy="32172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曲折矢印 25"/>
          <p:cNvSpPr/>
          <p:nvPr/>
        </p:nvSpPr>
        <p:spPr>
          <a:xfrm flipH="1">
            <a:off x="6946929" y="642884"/>
            <a:ext cx="1463666" cy="3341049"/>
          </a:xfrm>
          <a:prstGeom prst="bentArrow">
            <a:avLst>
              <a:gd name="adj1" fmla="val 8009"/>
              <a:gd name="adj2" fmla="val 7351"/>
              <a:gd name="adj3" fmla="val 10323"/>
              <a:gd name="adj4" fmla="val 23250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縦巻き 27"/>
          <p:cNvSpPr/>
          <p:nvPr/>
        </p:nvSpPr>
        <p:spPr>
          <a:xfrm>
            <a:off x="251520" y="5948900"/>
            <a:ext cx="1764196" cy="614380"/>
          </a:xfrm>
          <a:prstGeom prst="verticalScroll">
            <a:avLst>
              <a:gd name="adj" fmla="val 2341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PMTypes.xsd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0" name="上矢印 29"/>
          <p:cNvSpPr/>
          <p:nvPr/>
        </p:nvSpPr>
        <p:spPr>
          <a:xfrm rot="16200000">
            <a:off x="6912260" y="3907029"/>
            <a:ext cx="216024" cy="1008112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上矢印 30"/>
          <p:cNvSpPr/>
          <p:nvPr/>
        </p:nvSpPr>
        <p:spPr>
          <a:xfrm>
            <a:off x="1025606" y="5627176"/>
            <a:ext cx="216024" cy="321724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上矢印 31"/>
          <p:cNvSpPr/>
          <p:nvPr/>
        </p:nvSpPr>
        <p:spPr>
          <a:xfrm>
            <a:off x="5151734" y="2360076"/>
            <a:ext cx="216024" cy="420852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上矢印 16"/>
          <p:cNvSpPr/>
          <p:nvPr/>
        </p:nvSpPr>
        <p:spPr>
          <a:xfrm>
            <a:off x="4836617" y="2360075"/>
            <a:ext cx="216024" cy="1623857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上矢印 33"/>
          <p:cNvSpPr/>
          <p:nvPr/>
        </p:nvSpPr>
        <p:spPr>
          <a:xfrm>
            <a:off x="3131840" y="2360075"/>
            <a:ext cx="216024" cy="1623857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上矢印 35"/>
          <p:cNvSpPr/>
          <p:nvPr/>
        </p:nvSpPr>
        <p:spPr>
          <a:xfrm>
            <a:off x="5940152" y="2360075"/>
            <a:ext cx="216024" cy="1623857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上矢印 36"/>
          <p:cNvSpPr/>
          <p:nvPr/>
        </p:nvSpPr>
        <p:spPr>
          <a:xfrm>
            <a:off x="6279855" y="2368764"/>
            <a:ext cx="216024" cy="412164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上矢印 37"/>
          <p:cNvSpPr/>
          <p:nvPr/>
        </p:nvSpPr>
        <p:spPr>
          <a:xfrm>
            <a:off x="5940152" y="1131992"/>
            <a:ext cx="216024" cy="424800"/>
          </a:xfrm>
          <a:prstGeom prst="up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縦巻き 34"/>
          <p:cNvSpPr/>
          <p:nvPr/>
        </p:nvSpPr>
        <p:spPr>
          <a:xfrm>
            <a:off x="5704102" y="1556792"/>
            <a:ext cx="2468298" cy="792088"/>
          </a:xfrm>
          <a:prstGeom prst="verticalScroll">
            <a:avLst>
              <a:gd name="adj" fmla="val 20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pmsProductOut.xsd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縦巻き 7"/>
          <p:cNvSpPr/>
          <p:nvPr/>
        </p:nvSpPr>
        <p:spPr>
          <a:xfrm>
            <a:off x="3563101" y="1556792"/>
            <a:ext cx="2160240" cy="792088"/>
          </a:xfrm>
          <a:prstGeom prst="verticalScroll">
            <a:avLst>
              <a:gd name="adj" fmla="val 20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pmsProduct.xsd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縦巻き 6"/>
          <p:cNvSpPr/>
          <p:nvPr/>
        </p:nvSpPr>
        <p:spPr>
          <a:xfrm>
            <a:off x="996938" y="1556792"/>
            <a:ext cx="2602954" cy="792088"/>
          </a:xfrm>
          <a:prstGeom prst="verticalScroll">
            <a:avLst>
              <a:gd name="adj" fmla="val 20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pmsWorkProcess.xsd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縦巻き 5"/>
          <p:cNvSpPr/>
          <p:nvPr/>
        </p:nvSpPr>
        <p:spPr>
          <a:xfrm>
            <a:off x="1871700" y="2780928"/>
            <a:ext cx="5148572" cy="792088"/>
          </a:xfrm>
          <a:prstGeom prst="verticalScroll">
            <a:avLst>
              <a:gd name="adj" fmla="val 2053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pmsMaster.xsd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縦巻き 4"/>
          <p:cNvSpPr/>
          <p:nvPr/>
        </p:nvSpPr>
        <p:spPr>
          <a:xfrm>
            <a:off x="2123728" y="4005321"/>
            <a:ext cx="4536504" cy="811529"/>
          </a:xfrm>
          <a:prstGeom prst="verticalScroll">
            <a:avLst>
              <a:gd name="adj" fmla="val 1635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pmsCommon.xsd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9" name="縦巻き 38"/>
          <p:cNvSpPr/>
          <p:nvPr/>
        </p:nvSpPr>
        <p:spPr>
          <a:xfrm>
            <a:off x="2231740" y="5230680"/>
            <a:ext cx="1764196" cy="689004"/>
          </a:xfrm>
          <a:prstGeom prst="verticalScroll">
            <a:avLst>
              <a:gd name="adj" fmla="val 1952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BIX-pp.xsd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4386968" y="5288070"/>
            <a:ext cx="2633305" cy="1165266"/>
            <a:chOff x="4391980" y="5040970"/>
            <a:chExt cx="2633305" cy="1165266"/>
          </a:xfrm>
        </p:grpSpPr>
        <p:sp>
          <p:nvSpPr>
            <p:cNvPr id="41" name="縦巻き 40"/>
            <p:cNvSpPr/>
            <p:nvPr/>
          </p:nvSpPr>
          <p:spPr>
            <a:xfrm>
              <a:off x="4883463" y="5627176"/>
              <a:ext cx="2141822" cy="579060"/>
            </a:xfrm>
            <a:prstGeom prst="verticalScroll">
              <a:avLst>
                <a:gd name="adj" fmla="val 1952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 smtClean="0">
                  <a:solidFill>
                    <a:schemeClr val="tx1"/>
                  </a:solidFill>
                </a:rPr>
                <a:t>bfd_Workingses.xsd</a:t>
              </a:r>
              <a:endParaRPr kumimoji="1" lang="ja-JP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2" name="縦巻き 41"/>
            <p:cNvSpPr/>
            <p:nvPr/>
          </p:nvSpPr>
          <p:spPr>
            <a:xfrm>
              <a:off x="4553780" y="5196437"/>
              <a:ext cx="1764196" cy="689004"/>
            </a:xfrm>
            <a:prstGeom prst="verticalScroll">
              <a:avLst>
                <a:gd name="adj" fmla="val 1952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Mindices.xsd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縦巻き 42"/>
            <p:cNvSpPr/>
            <p:nvPr/>
          </p:nvSpPr>
          <p:spPr>
            <a:xfrm>
              <a:off x="4391980" y="5040970"/>
              <a:ext cx="1764196" cy="689004"/>
            </a:xfrm>
            <a:prstGeom prst="verticalScroll">
              <a:avLst>
                <a:gd name="adj" fmla="val 1952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 smtClean="0">
                  <a:solidFill>
                    <a:schemeClr val="tx1"/>
                  </a:solidFill>
                </a:rPr>
                <a:t>Mindices.xsd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" name="テキスト ボックス 1"/>
            <p:cNvSpPr txBox="1"/>
            <p:nvPr/>
          </p:nvSpPr>
          <p:spPr>
            <a:xfrm rot="1835553">
              <a:off x="6287357" y="5239194"/>
              <a:ext cx="5469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smtClean="0"/>
                <a:t>……</a:t>
              </a:r>
            </a:p>
          </p:txBody>
        </p:sp>
      </p:grpSp>
      <p:grpSp>
        <p:nvGrpSpPr>
          <p:cNvPr id="49" name="グループ化 48"/>
          <p:cNvGrpSpPr/>
          <p:nvPr/>
        </p:nvGrpSpPr>
        <p:grpSpPr>
          <a:xfrm>
            <a:off x="7473735" y="5874276"/>
            <a:ext cx="1321742" cy="689004"/>
            <a:chOff x="7642746" y="5874276"/>
            <a:chExt cx="1321742" cy="689004"/>
          </a:xfrm>
        </p:grpSpPr>
        <p:sp>
          <p:nvSpPr>
            <p:cNvPr id="45" name="上矢印 44"/>
            <p:cNvSpPr/>
            <p:nvPr/>
          </p:nvSpPr>
          <p:spPr>
            <a:xfrm rot="16200000">
              <a:off x="7866367" y="6182337"/>
              <a:ext cx="216024" cy="396043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上矢印 45"/>
            <p:cNvSpPr/>
            <p:nvPr/>
          </p:nvSpPr>
          <p:spPr>
            <a:xfrm rot="16200000">
              <a:off x="7866366" y="5890443"/>
              <a:ext cx="216024" cy="396043"/>
            </a:xfrm>
            <a:prstGeom prst="up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テキスト ボックス 46"/>
            <p:cNvSpPr txBox="1"/>
            <p:nvPr/>
          </p:nvSpPr>
          <p:spPr>
            <a:xfrm>
              <a:off x="8172399" y="5941779"/>
              <a:ext cx="7468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 smtClean="0"/>
                <a:t>include</a:t>
              </a:r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8172399" y="6196477"/>
              <a:ext cx="7468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 smtClean="0"/>
                <a:t>import</a:t>
              </a:r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7642746" y="5874276"/>
              <a:ext cx="1321742" cy="689004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0" name="テキスト ボックス 49"/>
          <p:cNvSpPr txBox="1"/>
          <p:nvPr/>
        </p:nvSpPr>
        <p:spPr>
          <a:xfrm>
            <a:off x="2218213" y="6256090"/>
            <a:ext cx="2310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Diagram of schema relations</a:t>
            </a:r>
          </a:p>
        </p:txBody>
      </p:sp>
    </p:spTree>
    <p:extLst>
      <p:ext uri="{BB962C8B-B14F-4D97-AF65-F5344CB8AC3E}">
        <p14:creationId xmlns:p14="http://schemas.microsoft.com/office/powerpoint/2010/main" val="85458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線コネクタ 103"/>
          <p:cNvCxnSpPr>
            <a:stCxn id="80" idx="3"/>
            <a:endCxn id="101" idx="1"/>
          </p:cNvCxnSpPr>
          <p:nvPr/>
        </p:nvCxnSpPr>
        <p:spPr>
          <a:xfrm>
            <a:off x="1835299" y="3178869"/>
            <a:ext cx="2627362" cy="24150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/>
          <p:cNvCxnSpPr>
            <a:stCxn id="80" idx="3"/>
            <a:endCxn id="103" idx="1"/>
          </p:cNvCxnSpPr>
          <p:nvPr/>
        </p:nvCxnSpPr>
        <p:spPr>
          <a:xfrm>
            <a:off x="1835299" y="3178869"/>
            <a:ext cx="2627362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115"/>
          <p:cNvCxnSpPr>
            <a:endCxn id="113" idx="1"/>
          </p:cNvCxnSpPr>
          <p:nvPr/>
        </p:nvCxnSpPr>
        <p:spPr>
          <a:xfrm>
            <a:off x="5292080" y="3947579"/>
            <a:ext cx="216024" cy="144016"/>
          </a:xfrm>
          <a:prstGeom prst="bentConnector3">
            <a:avLst>
              <a:gd name="adj1" fmla="val 149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114" idx="1"/>
          </p:cNvCxnSpPr>
          <p:nvPr/>
        </p:nvCxnSpPr>
        <p:spPr>
          <a:xfrm>
            <a:off x="5652120" y="4307619"/>
            <a:ext cx="216024" cy="1440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正方形/長方形 113"/>
          <p:cNvSpPr/>
          <p:nvPr/>
        </p:nvSpPr>
        <p:spPr>
          <a:xfrm>
            <a:off x="5868144" y="4235611"/>
            <a:ext cx="129614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chemeClr val="tx1"/>
                </a:solidFill>
              </a:rPr>
              <a:t>（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PMTypes</a:t>
            </a:r>
            <a:r>
              <a:rPr kumimoji="1"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/>
          <p:cNvSpPr/>
          <p:nvPr/>
        </p:nvSpPr>
        <p:spPr>
          <a:xfrm>
            <a:off x="5508104" y="3875571"/>
            <a:ext cx="1368152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chemeClr val="tx1"/>
                </a:solidFill>
              </a:rPr>
              <a:t>（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PFUPoint</a:t>
            </a:r>
            <a:r>
              <a:rPr kumimoji="1"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67544" y="2996952"/>
            <a:ext cx="1152128" cy="360040"/>
          </a:xfrm>
          <a:prstGeom prst="rect">
            <a:avLst/>
          </a:prstGeom>
          <a:solidFill>
            <a:schemeClr val="bg1"/>
          </a:solidFill>
          <a:ln w="381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FIX-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483768" y="83671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農場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483768" y="1988840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圃場・施設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483768" y="2563448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土地利用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（作付・施設）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483768" y="1412776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マスタリスト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483768" y="3356992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圃場作業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工程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483768" y="5733256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生産出荷</a:t>
            </a:r>
            <a:endParaRPr kumimoji="1" lang="en-US" altLang="ja-JP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（ロット）</a:t>
            </a:r>
            <a:r>
              <a:rPr kumimoji="1" lang="ja-JP" altLang="en-US" dirty="0" smtClean="0">
                <a:solidFill>
                  <a:schemeClr val="tx1"/>
                </a:solidFill>
              </a:rPr>
              <a:t>工程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932040" y="1304763"/>
            <a:ext cx="216024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chemeClr val="tx1"/>
                </a:solidFill>
              </a:rPr>
              <a:t>地主，作業者，作物，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/>
            </a:r>
            <a:br>
              <a:rPr kumimoji="1" lang="en-US" altLang="ja-JP" sz="1600" dirty="0" smtClean="0">
                <a:solidFill>
                  <a:schemeClr val="tx1"/>
                </a:solidFill>
              </a:rPr>
            </a:br>
            <a:r>
              <a:rPr kumimoji="1" lang="ja-JP" altLang="en-US" sz="1600" dirty="0" smtClean="0">
                <a:solidFill>
                  <a:schemeClr val="tx1"/>
                </a:solidFill>
              </a:rPr>
              <a:t>機材，資材，・・・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932040" y="1988839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chemeClr val="tx1"/>
                </a:solidFill>
              </a:rPr>
              <a:t>地理情報（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Gml</a:t>
            </a:r>
            <a:r>
              <a:rPr kumimoji="1"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929386" y="2563448"/>
            <a:ext cx="1800200" cy="5758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>
                <a:solidFill>
                  <a:schemeClr val="tx1"/>
                </a:solidFill>
              </a:rPr>
              <a:t>生育・環境</a:t>
            </a:r>
            <a:r>
              <a:rPr kumimoji="1" lang="ja-JP" altLang="en-US" sz="1600" dirty="0" smtClean="0">
                <a:solidFill>
                  <a:schemeClr val="tx1"/>
                </a:solidFill>
              </a:rPr>
              <a:t>情報</a:t>
            </a:r>
            <a:endParaRPr kumimoji="1" lang="en-US" altLang="ja-JP" sz="1600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sz="1600" dirty="0" smtClean="0">
                <a:solidFill>
                  <a:schemeClr val="tx1"/>
                </a:solidFill>
              </a:rPr>
              <a:t>（</a:t>
            </a:r>
            <a:r>
              <a:rPr lang="en-US" altLang="ja-JP" sz="1600" dirty="0" smtClean="0">
                <a:solidFill>
                  <a:schemeClr val="tx1"/>
                </a:solidFill>
              </a:rPr>
              <a:t>BIX-pp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4929386" y="3356991"/>
            <a:ext cx="180020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>
                <a:solidFill>
                  <a:schemeClr val="tx1"/>
                </a:solidFill>
              </a:rPr>
              <a:t>作業・生育・環境</a:t>
            </a:r>
            <a:r>
              <a:rPr lang="en-US" altLang="ja-JP" sz="1600" dirty="0" smtClean="0">
                <a:solidFill>
                  <a:schemeClr val="tx1"/>
                </a:solidFill>
              </a:rPr>
              <a:t/>
            </a:r>
            <a:br>
              <a:rPr lang="en-US" altLang="ja-JP" sz="1600" dirty="0" smtClean="0">
                <a:solidFill>
                  <a:schemeClr val="tx1"/>
                </a:solidFill>
              </a:rPr>
            </a:br>
            <a:r>
              <a:rPr kumimoji="1" lang="ja-JP" altLang="en-US" sz="1600" dirty="0" smtClean="0">
                <a:solidFill>
                  <a:schemeClr val="tx1"/>
                </a:solidFill>
              </a:rPr>
              <a:t>情報</a:t>
            </a:r>
            <a:r>
              <a:rPr lang="ja-JP" altLang="en-US" sz="1600" dirty="0" smtClean="0">
                <a:solidFill>
                  <a:schemeClr val="tx1"/>
                </a:solidFill>
              </a:rPr>
              <a:t>（</a:t>
            </a:r>
            <a:r>
              <a:rPr lang="en-US" altLang="ja-JP" sz="1600" dirty="0" smtClean="0">
                <a:solidFill>
                  <a:schemeClr val="tx1"/>
                </a:solidFill>
              </a:rPr>
              <a:t>GPXX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6732240" y="2682203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（定置センサ情報）</a:t>
            </a:r>
            <a:endParaRPr kumimoji="1" lang="ja-JP" altLang="en-US" sz="1600" dirty="0"/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6732240" y="3475747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（移動センサ情報）</a:t>
            </a:r>
            <a:endParaRPr kumimoji="1" lang="ja-JP" altLang="en-US" sz="1600" dirty="0"/>
          </a:p>
        </p:txBody>
      </p:sp>
      <p:sp>
        <p:nvSpPr>
          <p:cNvPr id="94" name="正方形/長方形 93"/>
          <p:cNvSpPr/>
          <p:nvPr/>
        </p:nvSpPr>
        <p:spPr>
          <a:xfrm>
            <a:off x="2483768" y="4667659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生育観察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4016127" y="4678402"/>
            <a:ext cx="3492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</a:t>
            </a:r>
            <a:r>
              <a:rPr lang="ja-JP" altLang="en-US" sz="1600" dirty="0"/>
              <a:t>観察</a:t>
            </a:r>
            <a:r>
              <a:rPr kumimoji="1" lang="ja-JP" altLang="en-US" sz="1600" dirty="0" smtClean="0"/>
              <a:t>収集情報・・・モバイル端末利用）</a:t>
            </a:r>
            <a:endParaRPr kumimoji="1" lang="ja-JP" altLang="en-US" sz="1600" dirty="0"/>
          </a:p>
        </p:txBody>
      </p:sp>
      <p:cxnSp>
        <p:nvCxnSpPr>
          <p:cNvPr id="58" name="カギ線コネクタ 57"/>
          <p:cNvCxnSpPr>
            <a:stCxn id="9" idx="3"/>
            <a:endCxn id="15" idx="1"/>
          </p:cNvCxnSpPr>
          <p:nvPr/>
        </p:nvCxnSpPr>
        <p:spPr>
          <a:xfrm flipV="1">
            <a:off x="3995936" y="2851394"/>
            <a:ext cx="933450" cy="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カギ線コネクタ 60"/>
          <p:cNvCxnSpPr>
            <a:stCxn id="8" idx="3"/>
            <a:endCxn id="14" idx="1"/>
          </p:cNvCxnSpPr>
          <p:nvPr/>
        </p:nvCxnSpPr>
        <p:spPr>
          <a:xfrm flipV="1">
            <a:off x="3995936" y="2168859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カギ線コネクタ 61"/>
          <p:cNvCxnSpPr>
            <a:stCxn id="10" idx="3"/>
            <a:endCxn id="13" idx="1"/>
          </p:cNvCxnSpPr>
          <p:nvPr/>
        </p:nvCxnSpPr>
        <p:spPr>
          <a:xfrm flipV="1">
            <a:off x="3995936" y="1592795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11" idx="3"/>
            <a:endCxn id="16" idx="1"/>
          </p:cNvCxnSpPr>
          <p:nvPr/>
        </p:nvCxnSpPr>
        <p:spPr>
          <a:xfrm flipV="1">
            <a:off x="3995936" y="3645023"/>
            <a:ext cx="93345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ひし形 75"/>
          <p:cNvSpPr/>
          <p:nvPr/>
        </p:nvSpPr>
        <p:spPr>
          <a:xfrm>
            <a:off x="4016127" y="3590751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ひし形 76"/>
          <p:cNvSpPr/>
          <p:nvPr/>
        </p:nvSpPr>
        <p:spPr>
          <a:xfrm>
            <a:off x="4016125" y="2797207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ひし形 77"/>
          <p:cNvSpPr/>
          <p:nvPr/>
        </p:nvSpPr>
        <p:spPr>
          <a:xfrm>
            <a:off x="4016126" y="211458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ひし形 78"/>
          <p:cNvSpPr/>
          <p:nvPr/>
        </p:nvSpPr>
        <p:spPr>
          <a:xfrm>
            <a:off x="4016127" y="1538523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ひし形 79"/>
          <p:cNvSpPr/>
          <p:nvPr/>
        </p:nvSpPr>
        <p:spPr>
          <a:xfrm>
            <a:off x="1627634" y="312459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/>
          <p:cNvCxnSpPr>
            <a:stCxn id="80" idx="3"/>
            <a:endCxn id="7" idx="1"/>
          </p:cNvCxnSpPr>
          <p:nvPr/>
        </p:nvCxnSpPr>
        <p:spPr>
          <a:xfrm flipV="1">
            <a:off x="1835299" y="1016732"/>
            <a:ext cx="648469" cy="2162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80" idx="3"/>
            <a:endCxn id="10" idx="1"/>
          </p:cNvCxnSpPr>
          <p:nvPr/>
        </p:nvCxnSpPr>
        <p:spPr>
          <a:xfrm flipV="1">
            <a:off x="1835299" y="1592796"/>
            <a:ext cx="648469" cy="1586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80" idx="3"/>
            <a:endCxn id="8" idx="1"/>
          </p:cNvCxnSpPr>
          <p:nvPr/>
        </p:nvCxnSpPr>
        <p:spPr>
          <a:xfrm flipV="1">
            <a:off x="1835299" y="2168860"/>
            <a:ext cx="648469" cy="1010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80" idx="3"/>
            <a:endCxn id="9" idx="1"/>
          </p:cNvCxnSpPr>
          <p:nvPr/>
        </p:nvCxnSpPr>
        <p:spPr>
          <a:xfrm flipV="1">
            <a:off x="1835299" y="2851480"/>
            <a:ext cx="648469" cy="3273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80" idx="3"/>
            <a:endCxn id="11" idx="1"/>
          </p:cNvCxnSpPr>
          <p:nvPr/>
        </p:nvCxnSpPr>
        <p:spPr>
          <a:xfrm>
            <a:off x="1835299" y="3178869"/>
            <a:ext cx="648469" cy="46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80" idx="3"/>
            <a:endCxn id="12" idx="1"/>
          </p:cNvCxnSpPr>
          <p:nvPr/>
        </p:nvCxnSpPr>
        <p:spPr>
          <a:xfrm>
            <a:off x="1835299" y="3178869"/>
            <a:ext cx="648469" cy="2842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80" idx="3"/>
            <a:endCxn id="94" idx="1"/>
          </p:cNvCxnSpPr>
          <p:nvPr/>
        </p:nvCxnSpPr>
        <p:spPr>
          <a:xfrm>
            <a:off x="1835299" y="3178869"/>
            <a:ext cx="648469" cy="1668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2483768" y="260648"/>
            <a:ext cx="5256584" cy="360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 smtClean="0">
                <a:solidFill>
                  <a:schemeClr val="tx1"/>
                </a:solidFill>
              </a:rPr>
              <a:t>文書属性（作成日；作成者；バージョン；識別</a:t>
            </a:r>
            <a:r>
              <a:rPr lang="en-US" altLang="ja-JP" sz="1600" dirty="0" smtClean="0">
                <a:solidFill>
                  <a:schemeClr val="tx1"/>
                </a:solidFill>
              </a:rPr>
              <a:t>GUID…</a:t>
            </a:r>
            <a:r>
              <a:rPr lang="ja-JP" altLang="en-US" sz="1600" dirty="0" smtClean="0">
                <a:solidFill>
                  <a:schemeClr val="tx1"/>
                </a:solidFill>
              </a:rPr>
              <a:t>；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etc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0" name="直線コネクタ 39"/>
          <p:cNvCxnSpPr>
            <a:stCxn id="80" idx="3"/>
            <a:endCxn id="38" idx="1"/>
          </p:cNvCxnSpPr>
          <p:nvPr/>
        </p:nvCxnSpPr>
        <p:spPr>
          <a:xfrm flipV="1">
            <a:off x="1835299" y="440668"/>
            <a:ext cx="648469" cy="273820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/>
          <p:cNvSpPr/>
          <p:nvPr/>
        </p:nvSpPr>
        <p:spPr>
          <a:xfrm>
            <a:off x="2483768" y="4125714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施設利用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2" name="直線コネクタ 81"/>
          <p:cNvCxnSpPr>
            <a:stCxn id="80" idx="3"/>
            <a:endCxn id="81" idx="1"/>
          </p:cNvCxnSpPr>
          <p:nvPr/>
        </p:nvCxnSpPr>
        <p:spPr>
          <a:xfrm>
            <a:off x="1835299" y="3178869"/>
            <a:ext cx="648469" cy="1126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正方形/長方形 94"/>
          <p:cNvSpPr/>
          <p:nvPr/>
        </p:nvSpPr>
        <p:spPr>
          <a:xfrm>
            <a:off x="2483768" y="519784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土壌／品質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cxnSp>
        <p:nvCxnSpPr>
          <p:cNvPr id="96" name="直線コネクタ 95"/>
          <p:cNvCxnSpPr>
            <a:stCxn id="80" idx="3"/>
            <a:endCxn id="95" idx="1"/>
          </p:cNvCxnSpPr>
          <p:nvPr/>
        </p:nvCxnSpPr>
        <p:spPr>
          <a:xfrm>
            <a:off x="1835299" y="3178869"/>
            <a:ext cx="648469" cy="21989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4462661" y="5413866"/>
            <a:ext cx="352839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製品出荷物／配送経費／副産物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4462661" y="5949280"/>
            <a:ext cx="2341587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経営指標</a:t>
            </a:r>
            <a:r>
              <a:rPr lang="ja-JP" altLang="en-US" dirty="0" smtClean="0">
                <a:solidFill>
                  <a:schemeClr val="tx1"/>
                </a:solidFill>
              </a:rPr>
              <a:t>（</a:t>
            </a:r>
            <a:r>
              <a:rPr lang="en-US" altLang="ja-JP" dirty="0" err="1" smtClean="0">
                <a:solidFill>
                  <a:schemeClr val="tx1"/>
                </a:solidFill>
              </a:rPr>
              <a:t>MIndices</a:t>
            </a:r>
            <a:r>
              <a:rPr lang="ja-JP" altLang="en-US" dirty="0" smtClean="0">
                <a:solidFill>
                  <a:schemeClr val="tx1"/>
                </a:solidFill>
              </a:rPr>
              <a:t>）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01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線コネクタ 103"/>
          <p:cNvCxnSpPr>
            <a:stCxn id="80" idx="3"/>
            <a:endCxn id="101" idx="1"/>
          </p:cNvCxnSpPr>
          <p:nvPr/>
        </p:nvCxnSpPr>
        <p:spPr>
          <a:xfrm>
            <a:off x="1835299" y="3178869"/>
            <a:ext cx="2627362" cy="24150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/>
          <p:cNvCxnSpPr>
            <a:stCxn id="80" idx="3"/>
            <a:endCxn id="103" idx="1"/>
          </p:cNvCxnSpPr>
          <p:nvPr/>
        </p:nvCxnSpPr>
        <p:spPr>
          <a:xfrm>
            <a:off x="1835299" y="3178869"/>
            <a:ext cx="2627362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115"/>
          <p:cNvCxnSpPr>
            <a:endCxn id="113" idx="1"/>
          </p:cNvCxnSpPr>
          <p:nvPr/>
        </p:nvCxnSpPr>
        <p:spPr>
          <a:xfrm>
            <a:off x="5292080" y="3947579"/>
            <a:ext cx="216024" cy="144016"/>
          </a:xfrm>
          <a:prstGeom prst="bentConnector3">
            <a:avLst>
              <a:gd name="adj1" fmla="val 149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114" idx="1"/>
          </p:cNvCxnSpPr>
          <p:nvPr/>
        </p:nvCxnSpPr>
        <p:spPr>
          <a:xfrm>
            <a:off x="5652120" y="4307619"/>
            <a:ext cx="216024" cy="1440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正方形/長方形 113"/>
          <p:cNvSpPr/>
          <p:nvPr/>
        </p:nvSpPr>
        <p:spPr>
          <a:xfrm>
            <a:off x="5868144" y="4235611"/>
            <a:ext cx="129614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(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PMTypes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/>
          <p:cNvSpPr/>
          <p:nvPr/>
        </p:nvSpPr>
        <p:spPr>
          <a:xfrm>
            <a:off x="5508104" y="3875571"/>
            <a:ext cx="1368152" cy="432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(PFUPoint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67544" y="2996952"/>
            <a:ext cx="1152128" cy="360040"/>
          </a:xfrm>
          <a:prstGeom prst="rect">
            <a:avLst/>
          </a:prstGeom>
          <a:solidFill>
            <a:schemeClr val="bg1"/>
          </a:solidFill>
          <a:ln w="381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FIX-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483768" y="83671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Farm profile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483768" y="1988840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Fields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483768" y="2563448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Cultivations</a:t>
            </a:r>
          </a:p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(Plantings)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483768" y="1412776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Master info.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483768" y="3356992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Workings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2483768" y="5733256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Post harvest</a:t>
            </a:r>
          </a:p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(Lot info.)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932040" y="1304763"/>
            <a:ext cx="216024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Owners, workers, crops,  resources, and so on…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932040" y="1988839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Geospatial info.(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Gml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>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929386" y="2563448"/>
            <a:ext cx="2162894" cy="5758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Environmental info.</a:t>
            </a:r>
            <a:endParaRPr kumimoji="1" lang="en-US" altLang="ja-JP" sz="1600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sz="1600" dirty="0" smtClean="0">
                <a:solidFill>
                  <a:schemeClr val="tx1"/>
                </a:solidFill>
              </a:rPr>
              <a:t>（</a:t>
            </a:r>
            <a:r>
              <a:rPr lang="en-US" altLang="ja-JP" sz="1600" dirty="0" smtClean="0">
                <a:solidFill>
                  <a:schemeClr val="tx1"/>
                </a:solidFill>
              </a:rPr>
              <a:t>BIX-pp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4929386" y="3356991"/>
            <a:ext cx="216289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 smtClean="0">
                <a:solidFill>
                  <a:schemeClr val="tx1"/>
                </a:solidFill>
              </a:rPr>
              <a:t>Operatoins</a:t>
            </a:r>
            <a:r>
              <a:rPr lang="en-US" altLang="ja-JP" sz="1600" dirty="0" smtClean="0">
                <a:solidFill>
                  <a:schemeClr val="tx1"/>
                </a:solidFill>
              </a:rPr>
              <a:t>, 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appli</a:t>
            </a:r>
            <a:r>
              <a:rPr lang="en-US" altLang="ja-JP" sz="1600" dirty="0" smtClean="0">
                <a:solidFill>
                  <a:schemeClr val="tx1"/>
                </a:solidFill>
              </a:rPr>
              <a:t>-cations, …(GPXX)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7090953" y="2682203"/>
            <a:ext cx="1513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(static sensors)</a:t>
            </a:r>
            <a:endParaRPr kumimoji="1" lang="ja-JP" altLang="en-US" sz="1600" dirty="0"/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7092280" y="3475747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(mobile sensors)</a:t>
            </a:r>
            <a:endParaRPr kumimoji="1" lang="ja-JP" altLang="en-US" sz="1600" dirty="0"/>
          </a:p>
        </p:txBody>
      </p:sp>
      <p:sp>
        <p:nvSpPr>
          <p:cNvPr id="94" name="正方形/長方形 93"/>
          <p:cNvSpPr/>
          <p:nvPr/>
        </p:nvSpPr>
        <p:spPr>
          <a:xfrm>
            <a:off x="2483768" y="4667659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1"/>
                </a:solidFill>
              </a:rPr>
              <a:t>Growings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4016127" y="4678402"/>
            <a:ext cx="3940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/>
              <a:t>(manual observations, field notes, …)</a:t>
            </a:r>
            <a:endParaRPr kumimoji="1" lang="ja-JP" altLang="en-US" sz="1600" dirty="0"/>
          </a:p>
        </p:txBody>
      </p:sp>
      <p:cxnSp>
        <p:nvCxnSpPr>
          <p:cNvPr id="58" name="カギ線コネクタ 57"/>
          <p:cNvCxnSpPr>
            <a:stCxn id="9" idx="3"/>
            <a:endCxn id="15" idx="1"/>
          </p:cNvCxnSpPr>
          <p:nvPr/>
        </p:nvCxnSpPr>
        <p:spPr>
          <a:xfrm flipV="1">
            <a:off x="3995936" y="2851394"/>
            <a:ext cx="933450" cy="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カギ線コネクタ 60"/>
          <p:cNvCxnSpPr>
            <a:stCxn id="8" idx="3"/>
            <a:endCxn id="14" idx="1"/>
          </p:cNvCxnSpPr>
          <p:nvPr/>
        </p:nvCxnSpPr>
        <p:spPr>
          <a:xfrm flipV="1">
            <a:off x="3995936" y="2168859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カギ線コネクタ 61"/>
          <p:cNvCxnSpPr>
            <a:stCxn id="10" idx="3"/>
            <a:endCxn id="13" idx="1"/>
          </p:cNvCxnSpPr>
          <p:nvPr/>
        </p:nvCxnSpPr>
        <p:spPr>
          <a:xfrm flipV="1">
            <a:off x="3995936" y="1592795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11" idx="3"/>
            <a:endCxn id="16" idx="1"/>
          </p:cNvCxnSpPr>
          <p:nvPr/>
        </p:nvCxnSpPr>
        <p:spPr>
          <a:xfrm flipV="1">
            <a:off x="3995936" y="3645023"/>
            <a:ext cx="93345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ひし形 75"/>
          <p:cNvSpPr/>
          <p:nvPr/>
        </p:nvSpPr>
        <p:spPr>
          <a:xfrm>
            <a:off x="4016127" y="3590751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ひし形 76"/>
          <p:cNvSpPr/>
          <p:nvPr/>
        </p:nvSpPr>
        <p:spPr>
          <a:xfrm>
            <a:off x="4016125" y="2797207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ひし形 77"/>
          <p:cNvSpPr/>
          <p:nvPr/>
        </p:nvSpPr>
        <p:spPr>
          <a:xfrm>
            <a:off x="4016126" y="211458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ひし形 78"/>
          <p:cNvSpPr/>
          <p:nvPr/>
        </p:nvSpPr>
        <p:spPr>
          <a:xfrm>
            <a:off x="4016127" y="1538523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ひし形 79"/>
          <p:cNvSpPr/>
          <p:nvPr/>
        </p:nvSpPr>
        <p:spPr>
          <a:xfrm>
            <a:off x="1627634" y="312459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/>
          <p:cNvCxnSpPr>
            <a:stCxn id="80" idx="3"/>
            <a:endCxn id="7" idx="1"/>
          </p:cNvCxnSpPr>
          <p:nvPr/>
        </p:nvCxnSpPr>
        <p:spPr>
          <a:xfrm flipV="1">
            <a:off x="1835299" y="1016732"/>
            <a:ext cx="648469" cy="2162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80" idx="3"/>
            <a:endCxn id="10" idx="1"/>
          </p:cNvCxnSpPr>
          <p:nvPr/>
        </p:nvCxnSpPr>
        <p:spPr>
          <a:xfrm flipV="1">
            <a:off x="1835299" y="1592796"/>
            <a:ext cx="648469" cy="1586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80" idx="3"/>
            <a:endCxn id="8" idx="1"/>
          </p:cNvCxnSpPr>
          <p:nvPr/>
        </p:nvCxnSpPr>
        <p:spPr>
          <a:xfrm flipV="1">
            <a:off x="1835299" y="2168860"/>
            <a:ext cx="648469" cy="1010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80" idx="3"/>
            <a:endCxn id="9" idx="1"/>
          </p:cNvCxnSpPr>
          <p:nvPr/>
        </p:nvCxnSpPr>
        <p:spPr>
          <a:xfrm flipV="1">
            <a:off x="1835299" y="2851480"/>
            <a:ext cx="648469" cy="3273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80" idx="3"/>
            <a:endCxn id="11" idx="1"/>
          </p:cNvCxnSpPr>
          <p:nvPr/>
        </p:nvCxnSpPr>
        <p:spPr>
          <a:xfrm>
            <a:off x="1835299" y="3178869"/>
            <a:ext cx="648469" cy="46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80" idx="3"/>
            <a:endCxn id="12" idx="1"/>
          </p:cNvCxnSpPr>
          <p:nvPr/>
        </p:nvCxnSpPr>
        <p:spPr>
          <a:xfrm>
            <a:off x="1835299" y="3178869"/>
            <a:ext cx="648469" cy="2842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80" idx="3"/>
            <a:endCxn id="94" idx="1"/>
          </p:cNvCxnSpPr>
          <p:nvPr/>
        </p:nvCxnSpPr>
        <p:spPr>
          <a:xfrm>
            <a:off x="1835299" y="3178869"/>
            <a:ext cx="648469" cy="1668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2483768" y="260648"/>
            <a:ext cx="5507285" cy="360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Meta info. of document (author; date; version; GUID; … ; 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etc</a:t>
            </a:r>
            <a:r>
              <a:rPr lang="en-US" altLang="ja-JP" sz="1600" dirty="0">
                <a:solidFill>
                  <a:schemeClr val="tx1"/>
                </a:solidFill>
              </a:rPr>
              <a:t>)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0" name="直線コネクタ 39"/>
          <p:cNvCxnSpPr>
            <a:stCxn id="80" idx="3"/>
            <a:endCxn id="38" idx="1"/>
          </p:cNvCxnSpPr>
          <p:nvPr/>
        </p:nvCxnSpPr>
        <p:spPr>
          <a:xfrm flipV="1">
            <a:off x="1835299" y="440668"/>
            <a:ext cx="648469" cy="273820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/>
          <p:cNvSpPr/>
          <p:nvPr/>
        </p:nvSpPr>
        <p:spPr>
          <a:xfrm>
            <a:off x="2483768" y="4125714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Facilities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2" name="直線コネクタ 81"/>
          <p:cNvCxnSpPr>
            <a:stCxn id="80" idx="3"/>
            <a:endCxn id="81" idx="1"/>
          </p:cNvCxnSpPr>
          <p:nvPr/>
        </p:nvCxnSpPr>
        <p:spPr>
          <a:xfrm>
            <a:off x="1835299" y="3178869"/>
            <a:ext cx="648469" cy="1126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正方形/長方形 94"/>
          <p:cNvSpPr/>
          <p:nvPr/>
        </p:nvSpPr>
        <p:spPr>
          <a:xfrm>
            <a:off x="2483768" y="519784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Soil/Qualities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cxnSp>
        <p:nvCxnSpPr>
          <p:cNvPr id="96" name="直線コネクタ 95"/>
          <p:cNvCxnSpPr>
            <a:stCxn id="80" idx="3"/>
            <a:endCxn id="95" idx="1"/>
          </p:cNvCxnSpPr>
          <p:nvPr/>
        </p:nvCxnSpPr>
        <p:spPr>
          <a:xfrm>
            <a:off x="1835299" y="3178869"/>
            <a:ext cx="648469" cy="21989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4462661" y="5413866"/>
            <a:ext cx="352839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Products / 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Shippings</a:t>
            </a:r>
            <a:r>
              <a:rPr kumimoji="1" lang="en-US" altLang="ja-JP" dirty="0" smtClean="0">
                <a:solidFill>
                  <a:schemeClr val="tx1"/>
                </a:solidFill>
              </a:rPr>
              <a:t> / Others…</a:t>
            </a:r>
          </a:p>
        </p:txBody>
      </p:sp>
      <p:sp>
        <p:nvSpPr>
          <p:cNvPr id="103" name="正方形/長方形 102"/>
          <p:cNvSpPr/>
          <p:nvPr/>
        </p:nvSpPr>
        <p:spPr>
          <a:xfrm>
            <a:off x="4462661" y="5949280"/>
            <a:ext cx="3205683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Calculated economic indices</a:t>
            </a:r>
          </a:p>
        </p:txBody>
      </p:sp>
    </p:spTree>
    <p:extLst>
      <p:ext uri="{BB962C8B-B14F-4D97-AF65-F5344CB8AC3E}">
        <p14:creationId xmlns:p14="http://schemas.microsoft.com/office/powerpoint/2010/main" val="367469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線コネクタ 103"/>
          <p:cNvCxnSpPr>
            <a:stCxn id="80" idx="3"/>
            <a:endCxn id="101" idx="1"/>
          </p:cNvCxnSpPr>
          <p:nvPr/>
        </p:nvCxnSpPr>
        <p:spPr>
          <a:xfrm>
            <a:off x="1835299" y="3178869"/>
            <a:ext cx="2627361" cy="2307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/>
          <p:cNvCxnSpPr>
            <a:stCxn id="80" idx="3"/>
            <a:endCxn id="103" idx="1"/>
          </p:cNvCxnSpPr>
          <p:nvPr/>
        </p:nvCxnSpPr>
        <p:spPr>
          <a:xfrm>
            <a:off x="1835299" y="3178869"/>
            <a:ext cx="2844265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115"/>
          <p:cNvCxnSpPr>
            <a:endCxn id="113" idx="1"/>
          </p:cNvCxnSpPr>
          <p:nvPr/>
        </p:nvCxnSpPr>
        <p:spPr>
          <a:xfrm rot="16200000" flipH="1">
            <a:off x="5265075" y="3837745"/>
            <a:ext cx="270034" cy="216023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114" idx="1"/>
          </p:cNvCxnSpPr>
          <p:nvPr/>
        </p:nvCxnSpPr>
        <p:spPr>
          <a:xfrm rot="16200000" flipH="1">
            <a:off x="5710229" y="4285515"/>
            <a:ext cx="207819" cy="10801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正方形/長方形 113"/>
          <p:cNvSpPr/>
          <p:nvPr/>
        </p:nvSpPr>
        <p:spPr>
          <a:xfrm>
            <a:off x="5868144" y="4305733"/>
            <a:ext cx="1296144" cy="2753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PMTypes</a:t>
            </a:r>
            <a:r>
              <a:rPr lang="en-US" altLang="ja-JP" sz="1600" dirty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/>
          <p:cNvSpPr/>
          <p:nvPr/>
        </p:nvSpPr>
        <p:spPr>
          <a:xfrm>
            <a:off x="5508104" y="3929496"/>
            <a:ext cx="1368152" cy="3025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PFUPoint</a:t>
            </a:r>
            <a:r>
              <a:rPr lang="en-US" altLang="ja-JP" sz="1600" dirty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67544" y="2996952"/>
            <a:ext cx="1152128" cy="360040"/>
          </a:xfrm>
          <a:prstGeom prst="rect">
            <a:avLst/>
          </a:prstGeom>
          <a:solidFill>
            <a:schemeClr val="bg1"/>
          </a:solidFill>
          <a:ln w="381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FIX-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483768" y="83671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&lt;Farm&gt;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483768" y="1988840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&lt;Field&gt;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483768" y="2563448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&lt;Cultivation&gt;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483767" y="1412776"/>
            <a:ext cx="1740023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MasterContents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483767" y="3356992"/>
            <a:ext cx="1636189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WorkProcess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483768" y="5949280"/>
            <a:ext cx="185853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ProductProcess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932040" y="1304763"/>
            <a:ext cx="216024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&lt;Member&gt;, &lt;Worker&gt;,</a:t>
            </a:r>
            <a:br>
              <a:rPr kumimoji="1" lang="en-US" altLang="ja-JP" sz="1600" dirty="0" smtClean="0">
                <a:solidFill>
                  <a:schemeClr val="tx1"/>
                </a:solidFill>
              </a:rPr>
            </a:br>
            <a:r>
              <a:rPr kumimoji="1" lang="en-US" altLang="ja-JP" sz="1600" dirty="0" smtClean="0">
                <a:solidFill>
                  <a:schemeClr val="tx1"/>
                </a:solidFill>
              </a:rPr>
              <a:t>&lt;Crop&gt;, &lt;Machine&gt;, …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932040" y="1988839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SpatialData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>&gt;…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929386" y="2563448"/>
            <a:ext cx="1800200" cy="5758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MeasuredData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&lt;BIX-pp&gt;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4929386" y="3475747"/>
            <a:ext cx="18002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TrackData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gpx</a:t>
            </a:r>
            <a:r>
              <a:rPr lang="en-US" altLang="ja-JP" sz="1600" dirty="0" smtClean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6732240" y="2682203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（定置センサ情報）</a:t>
            </a:r>
            <a:endParaRPr kumimoji="1" lang="ja-JP" altLang="en-US" sz="1600" dirty="0"/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6732240" y="3475747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（移動センサ情報）</a:t>
            </a:r>
            <a:endParaRPr kumimoji="1" lang="ja-JP" altLang="en-US" sz="1600" dirty="0"/>
          </a:p>
        </p:txBody>
      </p:sp>
      <p:sp>
        <p:nvSpPr>
          <p:cNvPr id="94" name="正方形/長方形 93"/>
          <p:cNvSpPr/>
          <p:nvPr/>
        </p:nvSpPr>
        <p:spPr>
          <a:xfrm>
            <a:off x="2483768" y="4667659"/>
            <a:ext cx="16361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GrowthData</a:t>
            </a:r>
            <a:r>
              <a:rPr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4119956" y="4678402"/>
            <a:ext cx="3492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 smtClean="0"/>
              <a:t>（</a:t>
            </a:r>
            <a:r>
              <a:rPr lang="ja-JP" altLang="en-US" sz="1600" dirty="0"/>
              <a:t>観察</a:t>
            </a:r>
            <a:r>
              <a:rPr kumimoji="1" lang="ja-JP" altLang="en-US" sz="1600" dirty="0" smtClean="0"/>
              <a:t>収集情報・・・モバイル端末利用）</a:t>
            </a:r>
            <a:endParaRPr kumimoji="1" lang="ja-JP" altLang="en-US" sz="1600" dirty="0"/>
          </a:p>
        </p:txBody>
      </p:sp>
      <p:cxnSp>
        <p:nvCxnSpPr>
          <p:cNvPr id="58" name="カギ線コネクタ 57"/>
          <p:cNvCxnSpPr>
            <a:stCxn id="9" idx="3"/>
            <a:endCxn id="15" idx="1"/>
          </p:cNvCxnSpPr>
          <p:nvPr/>
        </p:nvCxnSpPr>
        <p:spPr>
          <a:xfrm flipV="1">
            <a:off x="3995936" y="2851394"/>
            <a:ext cx="933450" cy="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カギ線コネクタ 60"/>
          <p:cNvCxnSpPr>
            <a:stCxn id="8" idx="3"/>
            <a:endCxn id="14" idx="1"/>
          </p:cNvCxnSpPr>
          <p:nvPr/>
        </p:nvCxnSpPr>
        <p:spPr>
          <a:xfrm flipV="1">
            <a:off x="3995936" y="2168859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カギ線コネクタ 61"/>
          <p:cNvCxnSpPr>
            <a:stCxn id="79" idx="3"/>
            <a:endCxn id="13" idx="1"/>
          </p:cNvCxnSpPr>
          <p:nvPr/>
        </p:nvCxnSpPr>
        <p:spPr>
          <a:xfrm flipV="1">
            <a:off x="4427089" y="1592795"/>
            <a:ext cx="50495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76" idx="3"/>
            <a:endCxn id="16" idx="1"/>
          </p:cNvCxnSpPr>
          <p:nvPr/>
        </p:nvCxnSpPr>
        <p:spPr>
          <a:xfrm>
            <a:off x="4342306" y="3645023"/>
            <a:ext cx="58708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ひし形 75"/>
          <p:cNvSpPr/>
          <p:nvPr/>
        </p:nvSpPr>
        <p:spPr>
          <a:xfrm>
            <a:off x="4134641" y="3590750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ひし形 76"/>
          <p:cNvSpPr/>
          <p:nvPr/>
        </p:nvSpPr>
        <p:spPr>
          <a:xfrm>
            <a:off x="4016125" y="2797207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ひし形 77"/>
          <p:cNvSpPr/>
          <p:nvPr/>
        </p:nvSpPr>
        <p:spPr>
          <a:xfrm>
            <a:off x="4016126" y="211458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ひし形 78"/>
          <p:cNvSpPr/>
          <p:nvPr/>
        </p:nvSpPr>
        <p:spPr>
          <a:xfrm>
            <a:off x="4219424" y="1538523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ひし形 79"/>
          <p:cNvSpPr/>
          <p:nvPr/>
        </p:nvSpPr>
        <p:spPr>
          <a:xfrm>
            <a:off x="1627634" y="312459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/>
          <p:cNvCxnSpPr>
            <a:stCxn id="80" idx="3"/>
            <a:endCxn id="7" idx="1"/>
          </p:cNvCxnSpPr>
          <p:nvPr/>
        </p:nvCxnSpPr>
        <p:spPr>
          <a:xfrm flipV="1">
            <a:off x="1835299" y="1016732"/>
            <a:ext cx="648469" cy="2162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80" idx="3"/>
            <a:endCxn id="10" idx="1"/>
          </p:cNvCxnSpPr>
          <p:nvPr/>
        </p:nvCxnSpPr>
        <p:spPr>
          <a:xfrm flipV="1">
            <a:off x="1835299" y="1592796"/>
            <a:ext cx="648468" cy="1586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80" idx="3"/>
            <a:endCxn id="8" idx="1"/>
          </p:cNvCxnSpPr>
          <p:nvPr/>
        </p:nvCxnSpPr>
        <p:spPr>
          <a:xfrm flipV="1">
            <a:off x="1835299" y="2168860"/>
            <a:ext cx="648469" cy="1010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80" idx="3"/>
            <a:endCxn id="9" idx="1"/>
          </p:cNvCxnSpPr>
          <p:nvPr/>
        </p:nvCxnSpPr>
        <p:spPr>
          <a:xfrm flipV="1">
            <a:off x="1835299" y="2851480"/>
            <a:ext cx="648469" cy="3273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80" idx="3"/>
            <a:endCxn id="11" idx="1"/>
          </p:cNvCxnSpPr>
          <p:nvPr/>
        </p:nvCxnSpPr>
        <p:spPr>
          <a:xfrm>
            <a:off x="1835299" y="3178869"/>
            <a:ext cx="648468" cy="46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80" idx="3"/>
            <a:endCxn id="12" idx="1"/>
          </p:cNvCxnSpPr>
          <p:nvPr/>
        </p:nvCxnSpPr>
        <p:spPr>
          <a:xfrm>
            <a:off x="1835299" y="3178869"/>
            <a:ext cx="648469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80" idx="3"/>
            <a:endCxn id="94" idx="1"/>
          </p:cNvCxnSpPr>
          <p:nvPr/>
        </p:nvCxnSpPr>
        <p:spPr>
          <a:xfrm>
            <a:off x="1835299" y="3178869"/>
            <a:ext cx="648469" cy="1668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2483768" y="260648"/>
            <a:ext cx="5517232" cy="360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Meta info…(&lt;Create&gt;, &lt;Author&gt;, &lt;Version&gt;, 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Guid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…, 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etc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0" name="直線コネクタ 39"/>
          <p:cNvCxnSpPr>
            <a:stCxn id="80" idx="3"/>
            <a:endCxn id="38" idx="1"/>
          </p:cNvCxnSpPr>
          <p:nvPr/>
        </p:nvCxnSpPr>
        <p:spPr>
          <a:xfrm flipV="1">
            <a:off x="1835299" y="440668"/>
            <a:ext cx="648469" cy="273820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/>
          <p:cNvSpPr/>
          <p:nvPr/>
        </p:nvSpPr>
        <p:spPr>
          <a:xfrm>
            <a:off x="2483768" y="4125714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&lt;Facility&gt;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2" name="直線コネクタ 81"/>
          <p:cNvCxnSpPr>
            <a:stCxn id="80" idx="3"/>
            <a:endCxn id="81" idx="1"/>
          </p:cNvCxnSpPr>
          <p:nvPr/>
        </p:nvCxnSpPr>
        <p:spPr>
          <a:xfrm>
            <a:off x="1835299" y="3178869"/>
            <a:ext cx="648469" cy="1126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正方形/長方形 94"/>
          <p:cNvSpPr/>
          <p:nvPr/>
        </p:nvSpPr>
        <p:spPr>
          <a:xfrm>
            <a:off x="2483768" y="5197842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SoilData</a:t>
            </a:r>
            <a:r>
              <a:rPr lang="en-US" altLang="ja-JP" dirty="0" smtClean="0">
                <a:solidFill>
                  <a:schemeClr val="tx1"/>
                </a:solidFill>
              </a:rPr>
              <a:t>&gt;/</a:t>
            </a:r>
            <a:br>
              <a:rPr lang="en-US" altLang="ja-JP" dirty="0" smtClean="0">
                <a:solidFill>
                  <a:schemeClr val="tx1"/>
                </a:solidFill>
              </a:rPr>
            </a:br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QualityData</a:t>
            </a:r>
            <a:r>
              <a:rPr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cxnSp>
        <p:nvCxnSpPr>
          <p:cNvPr id="96" name="直線コネクタ 95"/>
          <p:cNvCxnSpPr>
            <a:stCxn id="80" idx="3"/>
            <a:endCxn id="95" idx="1"/>
          </p:cNvCxnSpPr>
          <p:nvPr/>
        </p:nvCxnSpPr>
        <p:spPr>
          <a:xfrm>
            <a:off x="1835299" y="3178869"/>
            <a:ext cx="648469" cy="2307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4462660" y="5197842"/>
            <a:ext cx="378174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ProductInfo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r>
              <a:rPr lang="en-US" altLang="ja-JP" dirty="0" smtClean="0">
                <a:solidFill>
                  <a:schemeClr val="tx1"/>
                </a:solidFill>
              </a:rPr>
              <a:t>/</a:t>
            </a:r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DistributionExpense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&gt;/&lt;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OtherProfit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4679564" y="5949280"/>
            <a:ext cx="21246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bfd:Mindices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53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線コネクタ 103"/>
          <p:cNvCxnSpPr>
            <a:stCxn id="80" idx="3"/>
            <a:endCxn id="101" idx="1"/>
          </p:cNvCxnSpPr>
          <p:nvPr/>
        </p:nvCxnSpPr>
        <p:spPr>
          <a:xfrm>
            <a:off x="1835299" y="3178869"/>
            <a:ext cx="2627361" cy="2307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コネクタ 106"/>
          <p:cNvCxnSpPr>
            <a:stCxn id="80" idx="3"/>
            <a:endCxn id="103" idx="1"/>
          </p:cNvCxnSpPr>
          <p:nvPr/>
        </p:nvCxnSpPr>
        <p:spPr>
          <a:xfrm>
            <a:off x="1835299" y="3178869"/>
            <a:ext cx="2844265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115"/>
          <p:cNvCxnSpPr>
            <a:endCxn id="113" idx="1"/>
          </p:cNvCxnSpPr>
          <p:nvPr/>
        </p:nvCxnSpPr>
        <p:spPr>
          <a:xfrm rot="16200000" flipH="1">
            <a:off x="5265075" y="3837745"/>
            <a:ext cx="270034" cy="216023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カギ線コネクタ 118"/>
          <p:cNvCxnSpPr>
            <a:endCxn id="114" idx="1"/>
          </p:cNvCxnSpPr>
          <p:nvPr/>
        </p:nvCxnSpPr>
        <p:spPr>
          <a:xfrm rot="16200000" flipH="1">
            <a:off x="5710229" y="4285515"/>
            <a:ext cx="207819" cy="108012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正方形/長方形 113"/>
          <p:cNvSpPr/>
          <p:nvPr/>
        </p:nvSpPr>
        <p:spPr>
          <a:xfrm>
            <a:off x="5868144" y="4305733"/>
            <a:ext cx="1296144" cy="2753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PMTypes</a:t>
            </a:r>
            <a:r>
              <a:rPr lang="en-US" altLang="ja-JP" sz="1600" dirty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/>
          <p:cNvSpPr/>
          <p:nvPr/>
        </p:nvSpPr>
        <p:spPr>
          <a:xfrm>
            <a:off x="5508104" y="3929496"/>
            <a:ext cx="1368152" cy="3025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PFUPoint</a:t>
            </a:r>
            <a:r>
              <a:rPr lang="en-US" altLang="ja-JP" sz="1600" dirty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67544" y="2996952"/>
            <a:ext cx="1152128" cy="360040"/>
          </a:xfrm>
          <a:prstGeom prst="rect">
            <a:avLst/>
          </a:prstGeom>
          <a:solidFill>
            <a:schemeClr val="bg1"/>
          </a:solidFill>
          <a:ln w="38100" cmpd="thickThin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FIX-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2483768" y="836712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&lt;Farm&gt;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2483768" y="1988840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&lt;Field&gt;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483768" y="2563448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&lt;Cultivation&gt;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483767" y="1412776"/>
            <a:ext cx="1740023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MasterContents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2483767" y="3356992"/>
            <a:ext cx="1636189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WorkProcess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483768" y="5949280"/>
            <a:ext cx="185853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ProductProcess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4932040" y="1304763"/>
            <a:ext cx="216024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&lt;Member&gt;, &lt;Worker&gt;,</a:t>
            </a:r>
            <a:br>
              <a:rPr kumimoji="1" lang="en-US" altLang="ja-JP" sz="1600" dirty="0" smtClean="0">
                <a:solidFill>
                  <a:schemeClr val="tx1"/>
                </a:solidFill>
              </a:rPr>
            </a:br>
            <a:r>
              <a:rPr kumimoji="1" lang="en-US" altLang="ja-JP" sz="1600" dirty="0" smtClean="0">
                <a:solidFill>
                  <a:schemeClr val="tx1"/>
                </a:solidFill>
              </a:rPr>
              <a:t>&lt;Crop&gt;, &lt;Machine&gt;, …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4932040" y="1988839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sz="1600" dirty="0" err="1" smtClean="0">
                <a:solidFill>
                  <a:schemeClr val="tx1"/>
                </a:solidFill>
              </a:rPr>
              <a:t>SpatialData</a:t>
            </a:r>
            <a:r>
              <a:rPr kumimoji="1" lang="en-US" altLang="ja-JP" sz="1600" dirty="0" smtClean="0">
                <a:solidFill>
                  <a:schemeClr val="tx1"/>
                </a:solidFill>
              </a:rPr>
              <a:t>&gt;…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4929386" y="2563448"/>
            <a:ext cx="1800200" cy="5758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MeasuredData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&lt;BIX-pp&gt;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4929386" y="3475747"/>
            <a:ext cx="180020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TrackData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gpx</a:t>
            </a:r>
            <a:r>
              <a:rPr lang="en-US" altLang="ja-JP" sz="1600" dirty="0" smtClean="0">
                <a:solidFill>
                  <a:schemeClr val="tx1"/>
                </a:solidFill>
              </a:rPr>
              <a:t>&gt;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6732240" y="2682203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(static sensors)</a:t>
            </a:r>
            <a:endParaRPr lang="ja-JP" altLang="en-US" sz="1600" dirty="0"/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6732240" y="3475747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(mobile sensors)</a:t>
            </a:r>
            <a:endParaRPr lang="ja-JP" altLang="en-US" sz="1600" dirty="0"/>
          </a:p>
        </p:txBody>
      </p:sp>
      <p:sp>
        <p:nvSpPr>
          <p:cNvPr id="94" name="正方形/長方形 93"/>
          <p:cNvSpPr/>
          <p:nvPr/>
        </p:nvSpPr>
        <p:spPr>
          <a:xfrm>
            <a:off x="2483768" y="4667659"/>
            <a:ext cx="16361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GrowthData</a:t>
            </a:r>
            <a:r>
              <a:rPr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4119956" y="4678402"/>
            <a:ext cx="3492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(manual observations, field notes, …)</a:t>
            </a:r>
            <a:endParaRPr lang="ja-JP" altLang="en-US" sz="1600" dirty="0"/>
          </a:p>
        </p:txBody>
      </p:sp>
      <p:cxnSp>
        <p:nvCxnSpPr>
          <p:cNvPr id="58" name="カギ線コネクタ 57"/>
          <p:cNvCxnSpPr>
            <a:stCxn id="9" idx="3"/>
            <a:endCxn id="15" idx="1"/>
          </p:cNvCxnSpPr>
          <p:nvPr/>
        </p:nvCxnSpPr>
        <p:spPr>
          <a:xfrm flipV="1">
            <a:off x="3995936" y="2851394"/>
            <a:ext cx="933450" cy="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カギ線コネクタ 60"/>
          <p:cNvCxnSpPr>
            <a:stCxn id="8" idx="3"/>
            <a:endCxn id="14" idx="1"/>
          </p:cNvCxnSpPr>
          <p:nvPr/>
        </p:nvCxnSpPr>
        <p:spPr>
          <a:xfrm flipV="1">
            <a:off x="3995936" y="2168859"/>
            <a:ext cx="93610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カギ線コネクタ 61"/>
          <p:cNvCxnSpPr>
            <a:stCxn id="79" idx="3"/>
            <a:endCxn id="13" idx="1"/>
          </p:cNvCxnSpPr>
          <p:nvPr/>
        </p:nvCxnSpPr>
        <p:spPr>
          <a:xfrm flipV="1">
            <a:off x="4427089" y="1592795"/>
            <a:ext cx="50495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76" idx="3"/>
            <a:endCxn id="16" idx="1"/>
          </p:cNvCxnSpPr>
          <p:nvPr/>
        </p:nvCxnSpPr>
        <p:spPr>
          <a:xfrm>
            <a:off x="4342306" y="3645023"/>
            <a:ext cx="58708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ひし形 75"/>
          <p:cNvSpPr/>
          <p:nvPr/>
        </p:nvSpPr>
        <p:spPr>
          <a:xfrm>
            <a:off x="4134641" y="3590750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ひし形 76"/>
          <p:cNvSpPr/>
          <p:nvPr/>
        </p:nvSpPr>
        <p:spPr>
          <a:xfrm>
            <a:off x="4016125" y="2797207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ひし形 77"/>
          <p:cNvSpPr/>
          <p:nvPr/>
        </p:nvSpPr>
        <p:spPr>
          <a:xfrm>
            <a:off x="4016126" y="211458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ひし形 78"/>
          <p:cNvSpPr/>
          <p:nvPr/>
        </p:nvSpPr>
        <p:spPr>
          <a:xfrm>
            <a:off x="4219424" y="1538523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ひし形 79"/>
          <p:cNvSpPr/>
          <p:nvPr/>
        </p:nvSpPr>
        <p:spPr>
          <a:xfrm>
            <a:off x="1627634" y="3124596"/>
            <a:ext cx="207665" cy="10854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/>
          <p:cNvCxnSpPr>
            <a:stCxn id="80" idx="3"/>
            <a:endCxn id="7" idx="1"/>
          </p:cNvCxnSpPr>
          <p:nvPr/>
        </p:nvCxnSpPr>
        <p:spPr>
          <a:xfrm flipV="1">
            <a:off x="1835299" y="1016732"/>
            <a:ext cx="648469" cy="21621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80" idx="3"/>
            <a:endCxn id="10" idx="1"/>
          </p:cNvCxnSpPr>
          <p:nvPr/>
        </p:nvCxnSpPr>
        <p:spPr>
          <a:xfrm flipV="1">
            <a:off x="1835299" y="1592796"/>
            <a:ext cx="648468" cy="1586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80" idx="3"/>
            <a:endCxn id="8" idx="1"/>
          </p:cNvCxnSpPr>
          <p:nvPr/>
        </p:nvCxnSpPr>
        <p:spPr>
          <a:xfrm flipV="1">
            <a:off x="1835299" y="2168860"/>
            <a:ext cx="648469" cy="1010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80" idx="3"/>
            <a:endCxn id="9" idx="1"/>
          </p:cNvCxnSpPr>
          <p:nvPr/>
        </p:nvCxnSpPr>
        <p:spPr>
          <a:xfrm flipV="1">
            <a:off x="1835299" y="2851480"/>
            <a:ext cx="648469" cy="3273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80" idx="3"/>
            <a:endCxn id="11" idx="1"/>
          </p:cNvCxnSpPr>
          <p:nvPr/>
        </p:nvCxnSpPr>
        <p:spPr>
          <a:xfrm>
            <a:off x="1835299" y="3178869"/>
            <a:ext cx="648468" cy="4661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80" idx="3"/>
            <a:endCxn id="12" idx="1"/>
          </p:cNvCxnSpPr>
          <p:nvPr/>
        </p:nvCxnSpPr>
        <p:spPr>
          <a:xfrm>
            <a:off x="1835299" y="3178869"/>
            <a:ext cx="648469" cy="295043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80" idx="3"/>
            <a:endCxn id="94" idx="1"/>
          </p:cNvCxnSpPr>
          <p:nvPr/>
        </p:nvCxnSpPr>
        <p:spPr>
          <a:xfrm>
            <a:off x="1835299" y="3178869"/>
            <a:ext cx="648469" cy="1668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/>
          <p:cNvSpPr/>
          <p:nvPr/>
        </p:nvSpPr>
        <p:spPr>
          <a:xfrm>
            <a:off x="2483768" y="260648"/>
            <a:ext cx="5517232" cy="360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tx1"/>
                </a:solidFill>
              </a:rPr>
              <a:t>Meta info…(&lt;Create&gt;, &lt;Author&gt;, &lt;Version&gt;, &lt;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Guid</a:t>
            </a:r>
            <a:r>
              <a:rPr lang="en-US" altLang="ja-JP" sz="1600" dirty="0" smtClean="0">
                <a:solidFill>
                  <a:schemeClr val="tx1"/>
                </a:solidFill>
              </a:rPr>
              <a:t>&gt;, …, </a:t>
            </a:r>
            <a:r>
              <a:rPr lang="en-US" altLang="ja-JP" sz="1600" dirty="0" err="1" smtClean="0">
                <a:solidFill>
                  <a:schemeClr val="tx1"/>
                </a:solidFill>
              </a:rPr>
              <a:t>etc</a:t>
            </a:r>
            <a:r>
              <a:rPr lang="ja-JP" altLang="en-US" sz="1600" dirty="0" smtClean="0">
                <a:solidFill>
                  <a:schemeClr val="tx1"/>
                </a:solidFill>
              </a:rPr>
              <a:t>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40" name="直線コネクタ 39"/>
          <p:cNvCxnSpPr>
            <a:stCxn id="80" idx="3"/>
            <a:endCxn id="38" idx="1"/>
          </p:cNvCxnSpPr>
          <p:nvPr/>
        </p:nvCxnSpPr>
        <p:spPr>
          <a:xfrm flipV="1">
            <a:off x="1835299" y="440668"/>
            <a:ext cx="648469" cy="273820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正方形/長方形 80"/>
          <p:cNvSpPr/>
          <p:nvPr/>
        </p:nvSpPr>
        <p:spPr>
          <a:xfrm>
            <a:off x="2483768" y="4125714"/>
            <a:ext cx="151216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&lt;Facility&gt;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82" name="直線コネクタ 81"/>
          <p:cNvCxnSpPr>
            <a:stCxn id="80" idx="3"/>
            <a:endCxn id="81" idx="1"/>
          </p:cNvCxnSpPr>
          <p:nvPr/>
        </p:nvCxnSpPr>
        <p:spPr>
          <a:xfrm>
            <a:off x="1835299" y="3178869"/>
            <a:ext cx="648469" cy="1126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正方形/長方形 94"/>
          <p:cNvSpPr/>
          <p:nvPr/>
        </p:nvSpPr>
        <p:spPr>
          <a:xfrm>
            <a:off x="2483768" y="5197842"/>
            <a:ext cx="151216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SoilData</a:t>
            </a:r>
            <a:r>
              <a:rPr lang="en-US" altLang="ja-JP" dirty="0" smtClean="0">
                <a:solidFill>
                  <a:schemeClr val="tx1"/>
                </a:solidFill>
              </a:rPr>
              <a:t>&gt;/</a:t>
            </a:r>
            <a:br>
              <a:rPr lang="en-US" altLang="ja-JP" dirty="0" smtClean="0">
                <a:solidFill>
                  <a:schemeClr val="tx1"/>
                </a:solidFill>
              </a:rPr>
            </a:br>
            <a:r>
              <a:rPr lang="en-US" altLang="ja-JP" dirty="0" smtClean="0">
                <a:solidFill>
                  <a:schemeClr val="tx1"/>
                </a:solidFill>
              </a:rPr>
              <a:t>&lt;</a:t>
            </a:r>
            <a:r>
              <a:rPr lang="en-US" altLang="ja-JP" dirty="0" err="1" smtClean="0">
                <a:solidFill>
                  <a:schemeClr val="tx1"/>
                </a:solidFill>
              </a:rPr>
              <a:t>QualityData</a:t>
            </a:r>
            <a:r>
              <a:rPr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cxnSp>
        <p:nvCxnSpPr>
          <p:cNvPr id="96" name="直線コネクタ 95"/>
          <p:cNvCxnSpPr>
            <a:stCxn id="80" idx="3"/>
            <a:endCxn id="95" idx="1"/>
          </p:cNvCxnSpPr>
          <p:nvPr/>
        </p:nvCxnSpPr>
        <p:spPr>
          <a:xfrm>
            <a:off x="1835299" y="3178869"/>
            <a:ext cx="648469" cy="23070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4462660" y="5197842"/>
            <a:ext cx="3781748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ProductInfo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r>
              <a:rPr lang="en-US" altLang="ja-JP" dirty="0" smtClean="0">
                <a:solidFill>
                  <a:schemeClr val="tx1"/>
                </a:solidFill>
              </a:rPr>
              <a:t>/</a:t>
            </a:r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DistributionExpense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&gt;/&lt;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OtherProfit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4679564" y="5949280"/>
            <a:ext cx="21246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&lt;</a:t>
            </a:r>
            <a:r>
              <a:rPr kumimoji="1" lang="en-US" altLang="ja-JP" dirty="0" err="1" smtClean="0">
                <a:solidFill>
                  <a:schemeClr val="tx1"/>
                </a:solidFill>
              </a:rPr>
              <a:t>bfd:Mindices</a:t>
            </a:r>
            <a:r>
              <a:rPr kumimoji="1" lang="en-US" altLang="ja-JP" dirty="0" smtClean="0">
                <a:solidFill>
                  <a:schemeClr val="tx1"/>
                </a:solidFill>
              </a:rPr>
              <a:t>&gt;</a:t>
            </a:r>
            <a:endParaRPr kumimoji="1" lang="en-US" altLang="ja-JP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83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431</Words>
  <Application>Microsoft Office PowerPoint</Application>
  <PresentationFormat>画面に合わせる (4:3)</PresentationFormat>
  <Paragraphs>114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Jones</dc:creator>
  <cp:lastModifiedBy>Jones</cp:lastModifiedBy>
  <cp:revision>23</cp:revision>
  <cp:lastPrinted>2017-06-13T09:29:22Z</cp:lastPrinted>
  <dcterms:created xsi:type="dcterms:W3CDTF">2015-07-02T13:12:21Z</dcterms:created>
  <dcterms:modified xsi:type="dcterms:W3CDTF">2017-06-18T09:10:48Z</dcterms:modified>
</cp:coreProperties>
</file>